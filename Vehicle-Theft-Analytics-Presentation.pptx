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0F0F"/>
    <a:srgbClr val="380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-30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9455016039661718E-2"/>
          <c:y val="4.6436547405258551E-2"/>
          <c:w val="0.9158536259356469"/>
          <c:h val="0.857973592116774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Thefts</c:v>
                </c:pt>
              </c:strCache>
            </c:strRef>
          </c:tx>
          <c:spPr>
            <a:solidFill>
              <a:srgbClr val="FF3B3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Station-Wagon</c:v>
                </c:pt>
                <c:pt idx="1">
                  <c:v>Saloon</c:v>
                </c:pt>
                <c:pt idx="2">
                  <c:v>Hatchback</c:v>
                </c:pt>
                <c:pt idx="3">
                  <c:v>Trailer</c:v>
                </c:pt>
                <c:pt idx="4">
                  <c:v>Utility</c:v>
                </c:pt>
                <c:pt idx="5">
                  <c:v>Road bike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945</c:v>
                </c:pt>
                <c:pt idx="1">
                  <c:v>842</c:v>
                </c:pt>
                <c:pt idx="2">
                  <c:v>644</c:v>
                </c:pt>
                <c:pt idx="3">
                  <c:v>582</c:v>
                </c:pt>
                <c:pt idx="4">
                  <c:v>466</c:v>
                </c:pt>
                <c:pt idx="5">
                  <c:v>297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7880704"/>
        <c:axId val="137890048"/>
      </c:barChart>
      <c:catAx>
        <c:axId val="137880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37890048"/>
        <c:crosses val="autoZero"/>
        <c:auto val="1"/>
        <c:lblAlgn val="ctr"/>
        <c:lblOffset val="100"/>
        <c:noMultiLvlLbl val="1"/>
      </c:catAx>
      <c:valAx>
        <c:axId val="13789004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37880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Thefts</c:v>
                </c:pt>
              </c:strCache>
            </c:strRef>
          </c:tx>
          <c:spPr>
            <a:solidFill>
              <a:srgbClr val="FF3B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Auckland</c:v>
                </c:pt>
                <c:pt idx="1">
                  <c:v>Canterbury</c:v>
                </c:pt>
                <c:pt idx="2">
                  <c:v>Bay of Plenty</c:v>
                </c:pt>
                <c:pt idx="3">
                  <c:v>Wellington</c:v>
                </c:pt>
                <c:pt idx="4">
                  <c:v>Waikato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1626</c:v>
                </c:pt>
                <c:pt idx="1">
                  <c:v>660</c:v>
                </c:pt>
                <c:pt idx="2">
                  <c:v>442</c:v>
                </c:pt>
                <c:pt idx="3">
                  <c:v>417</c:v>
                </c:pt>
                <c:pt idx="4">
                  <c:v>369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7950336"/>
        <c:axId val="137957376"/>
      </c:barChart>
      <c:catAx>
        <c:axId val="1379503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37957376"/>
        <c:crosses val="autoZero"/>
        <c:auto val="1"/>
        <c:lblAlgn val="ctr"/>
        <c:lblOffset val="100"/>
        <c:noMultiLvlLbl val="1"/>
      </c:catAx>
      <c:valAx>
        <c:axId val="13795737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3795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1"/>
  <c:style val="2"/>
  <c:chart>
    <c:title>
      <c:layout/>
      <c:overlay val="0"/>
      <c:txPr>
        <a:bodyPr/>
        <a:lstStyle/>
        <a:p>
          <a:pPr>
            <a:defRPr sz="2400"/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 Thefts</c:v>
                </c:pt>
              </c:strCache>
            </c:strRef>
          </c:tx>
          <c:spPr>
            <a:ln>
              <a:solidFill>
                <a:srgbClr val="F90F0F"/>
              </a:solidFill>
            </a:ln>
          </c:spPr>
          <c:cat>
            <c:strRef>
              <c:f>Sheet1!$A$2:$A$8</c:f>
              <c:strCache>
                <c:ptCount val="7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461</c:v>
                </c:pt>
                <c:pt idx="1">
                  <c:v>556</c:v>
                </c:pt>
                <c:pt idx="2">
                  <c:v>640</c:v>
                </c:pt>
                <c:pt idx="3">
                  <c:v>737</c:v>
                </c:pt>
                <c:pt idx="4">
                  <c:v>757</c:v>
                </c:pt>
                <c:pt idx="5">
                  <c:v>1049</c:v>
                </c:pt>
                <c:pt idx="6">
                  <c:v>327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352128"/>
        <c:axId val="140399744"/>
      </c:lineChart>
      <c:catAx>
        <c:axId val="140352128"/>
        <c:scaling>
          <c:orientation val="minMax"/>
        </c:scaling>
        <c:delete val="0"/>
        <c:axPos val="b"/>
        <c:majorTickMark val="out"/>
        <c:minorTickMark val="none"/>
        <c:tickLblPos val="nextTo"/>
        <c:crossAx val="140399744"/>
        <c:crosses val="autoZero"/>
        <c:auto val="1"/>
        <c:lblAlgn val="ctr"/>
        <c:lblOffset val="100"/>
        <c:noMultiLvlLbl val="0"/>
      </c:catAx>
      <c:valAx>
        <c:axId val="140399744"/>
        <c:scaling>
          <c:orientation val="minMax"/>
          <c:max val="12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03521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3B30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FFD60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Old (&lt; 2010)</c:v>
                </c:pt>
                <c:pt idx="1">
                  <c:v>Mid (2010-2019)</c:v>
                </c:pt>
                <c:pt idx="2">
                  <c:v>New (≥ 2020)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3230</c:v>
                </c:pt>
                <c:pt idx="1">
                  <c:v>1017</c:v>
                </c:pt>
                <c:pt idx="2">
                  <c:v>280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C0C0"/>
              </a:solidFill>
              <a:effectLst/>
            </c:spPr>
          </c:dPt>
          <c:dPt>
            <c:idx val="1"/>
            <c:bubble3D val="0"/>
            <c:spPr>
              <a:solidFill>
                <a:srgbClr val="F5F5F5"/>
              </a:solidFill>
              <a:effectLst/>
            </c:spPr>
          </c:dPt>
          <c:dPt>
            <c:idx val="2"/>
            <c:bubble3D val="0"/>
            <c:spPr>
              <a:solidFill>
                <a:srgbClr val="1C1F3A"/>
              </a:solidFill>
              <a:effectLst/>
            </c:spPr>
          </c:dPt>
          <c:dPt>
            <c:idx val="3"/>
            <c:bubble3D val="0"/>
            <c:spPr>
              <a:solidFill>
                <a:srgbClr val="0066CC"/>
              </a:solidFill>
              <a:effectLst/>
            </c:spPr>
          </c:dPt>
          <c:dPt>
            <c:idx val="4"/>
            <c:bubble3D val="0"/>
            <c:spPr>
              <a:solidFill>
                <a:srgbClr val="FF3B30"/>
              </a:solidFill>
              <a:effectLst/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dirty="0" smtClean="0"/>
                      <a:t>1,272</a:t>
                    </a:r>
                    <a:endParaRPr lang="en-US" dirty="0"/>
                  </a:p>
                </c:rich>
              </c:tx>
              <c:numFmt formatCode="General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dirty="0">
                        <a:solidFill>
                          <a:schemeClr val="bg1"/>
                        </a:solidFill>
                      </a:rPr>
                      <a:t>586</a:t>
                    </a:r>
                  </a:p>
                </c:rich>
              </c:tx>
              <c:numFmt formatCode="General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Silver</c:v>
                </c:pt>
                <c:pt idx="1">
                  <c:v>White</c:v>
                </c:pt>
                <c:pt idx="2">
                  <c:v>Black</c:v>
                </c:pt>
                <c:pt idx="3">
                  <c:v>Blue</c:v>
                </c:pt>
                <c:pt idx="4">
                  <c:v>Red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1272</c:v>
                </c:pt>
                <c:pt idx="1">
                  <c:v>932</c:v>
                </c:pt>
                <c:pt idx="2">
                  <c:v>586</c:v>
                </c:pt>
                <c:pt idx="3">
                  <c:v>511</c:v>
                </c:pt>
                <c:pt idx="4">
                  <c:v>388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0"/>
      </c:doughnutChart>
      <c:spPr>
        <a:noFill/>
        <a:ln>
          <a:noFill/>
        </a:ln>
        <a:effectLst/>
      </c:spPr>
    </c:plotArea>
    <c:legend>
      <c:legendPos val="r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0.77167</cdr:x>
      <cdr:y>0.02865</cdr:y>
    </cdr:from>
    <cdr:to>
      <cdr:x>0.99098</cdr:x>
      <cdr:y>0.23496</cdr:y>
    </cdr:to>
    <cdr:sp macro="" textlink="">
      <cdr:nvSpPr>
        <cdr:cNvPr id="2" name="Rounded Rectangle 1"/>
        <cdr:cNvSpPr/>
      </cdr:nvSpPr>
      <cdr:spPr>
        <a:xfrm xmlns:a="http://schemas.openxmlformats.org/drawingml/2006/main">
          <a:off x="5997754" y="88777"/>
          <a:ext cx="1704512" cy="639192"/>
        </a:xfrm>
        <a:prstGeom xmlns:a="http://schemas.openxmlformats.org/drawingml/2006/main" prst="roundRect">
          <a:avLst/>
        </a:prstGeom>
        <a:solidFill xmlns:a="http://schemas.openxmlformats.org/drawingml/2006/main">
          <a:srgbClr val="F90F0F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0.80594</cdr:x>
      <cdr:y>0.04011</cdr:y>
    </cdr:from>
    <cdr:to>
      <cdr:x>0.95785</cdr:x>
      <cdr:y>0.11175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6264085" y="124287"/>
          <a:ext cx="1180730" cy="22194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PEAK MONTH</a:t>
          </a:r>
          <a:endParaRPr lang="en-GB" sz="11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cdr:txBody>
    </cdr:sp>
  </cdr:relSizeAnchor>
  <cdr:relSizeAnchor xmlns:cdr="http://schemas.openxmlformats.org/drawingml/2006/chartDrawing">
    <cdr:from>
      <cdr:x>0.82878</cdr:x>
      <cdr:y>0.17478</cdr:y>
    </cdr:from>
    <cdr:to>
      <cdr:x>0.98755</cdr:x>
      <cdr:y>0.28367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6441637" y="541537"/>
          <a:ext cx="1233996" cy="33735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GB" sz="1100" dirty="0"/>
        </a:p>
      </cdr:txBody>
    </cdr:sp>
  </cdr:relSizeAnchor>
  <cdr:relSizeAnchor xmlns:cdr="http://schemas.openxmlformats.org/drawingml/2006/chartDrawing">
    <cdr:from>
      <cdr:x>0.78538</cdr:x>
      <cdr:y>0.13181</cdr:y>
    </cdr:from>
    <cdr:to>
      <cdr:x>0.97955</cdr:x>
      <cdr:y>0.20344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6104286" y="408373"/>
          <a:ext cx="1509204" cy="22194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March: 1,049  thefts</a:t>
          </a:r>
          <a:endParaRPr lang="en-GB" sz="11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07D45-2F3A-4B9A-BF79-3365B9E247CF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4FC1F-005B-42D6-BA60-E676E8D395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5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921" y="1686757"/>
            <a:ext cx="8535880" cy="78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 b="1" dirty="0" smtClean="0">
              <a:solidFill>
                <a:srgbClr val="FF3B30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THEFT </a:t>
            </a:r>
            <a:r>
              <a:rPr lang="en-US" sz="2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50920" y="2574524"/>
            <a:ext cx="8535879" cy="45719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87083"/>
            <a:ext cx="5446450" cy="4705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Intelligence </a:t>
            </a:r>
            <a:r>
              <a:rPr lang="en-US" sz="1600" kern="0" spc="200" dirty="0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kern="0" spc="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2022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THEFTS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4,527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ANALYZED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093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25</a:t>
            </a:r>
            <a:endParaRPr lang="en-US" sz="3600" dirty="0"/>
          </a:p>
        </p:txBody>
      </p:sp>
      <p:sp>
        <p:nvSpPr>
          <p:cNvPr id="12" name="TextBox 11"/>
          <p:cNvSpPr txBox="1"/>
          <p:nvPr/>
        </p:nvSpPr>
        <p:spPr>
          <a:xfrm>
            <a:off x="150921" y="285250"/>
            <a:ext cx="4488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Arial Black" pitchFamily="34" charset="0"/>
              </a:rPr>
              <a:t>PROJECT</a:t>
            </a:r>
            <a:endParaRPr lang="en-GB" sz="40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146304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Peak Theft Period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</a:t>
            </a: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1,049 vehicle thefts were recorded in March alone.</a:t>
            </a:r>
          </a:p>
        </p:txBody>
      </p:sp>
      <p:sp>
        <p:nvSpPr>
          <p:cNvPr id="8" name="Shape 6"/>
          <p:cNvSpPr/>
          <p:nvPr/>
        </p:nvSpPr>
        <p:spPr>
          <a:xfrm>
            <a:off x="4800600" y="12801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80160"/>
            <a:ext cx="91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Most Targeted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wagons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749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945 of stolen vehicles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91440" cy="14630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High-Risk Region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Auckland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36% 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of national thefts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017520"/>
            <a:ext cx="91440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dirty="0"/>
              <a:t>Most Targeted Vehicle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 </a:t>
            </a: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345 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of stolen vehicles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8676"/>
            <a:ext cx="8229600" cy="541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6 Stolen </a:t>
            </a: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Type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289783503"/>
              </p:ext>
            </p:extLst>
          </p:nvPr>
        </p:nvGraphicFramePr>
        <p:xfrm>
          <a:off x="457200" y="825623"/>
          <a:ext cx="8229600" cy="3746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371600"/>
            <a:ext cx="1362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729274" y="1919352"/>
            <a:ext cx="16423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 Regional </a:t>
            </a: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Theft Distribution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913007324"/>
              </p:ext>
            </p:extLst>
          </p:nvPr>
        </p:nvGraphicFramePr>
        <p:xfrm>
          <a:off x="457200" y="11887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74198"/>
            <a:ext cx="2926080" cy="3053919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TOP 3 REGIONS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Auckland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1,626</a:t>
            </a: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(36%)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Canterbury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660</a:t>
            </a: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(15%)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4008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1E2761"/>
                </a:solidFill>
                <a:latin typeface="Arial" pitchFamily="34" charset="0"/>
                <a:cs typeface="Arial" pitchFamily="34" charset="-120"/>
              </a:rPr>
              <a:t>Bay of Plenty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442</a:t>
            </a: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10%)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668481"/>
              </p:ext>
            </p:extLst>
          </p:nvPr>
        </p:nvGraphicFramePr>
        <p:xfrm>
          <a:off x="731520" y="1154097"/>
          <a:ext cx="7772400" cy="3098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1606858" y="4429957"/>
            <a:ext cx="2716567" cy="355107"/>
          </a:xfrm>
          <a:prstGeom prst="rect">
            <a:avLst/>
          </a:prstGeom>
          <a:solidFill>
            <a:srgbClr val="F90F0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2068497" y="4429957"/>
            <a:ext cx="167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2021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77666" y="4399794"/>
            <a:ext cx="3487445" cy="355107"/>
          </a:xfrm>
          <a:prstGeom prst="rect">
            <a:avLst/>
          </a:prstGeom>
          <a:solidFill>
            <a:srgbClr val="3809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584054" y="4385569"/>
            <a:ext cx="195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2022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8183" y="355107"/>
            <a:ext cx="5939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4400" b="1">
                <a:solidFill>
                  <a:srgbClr val="212E66"/>
                </a:solidFill>
              </a:defRPr>
            </a:pPr>
            <a:r>
              <a:rPr lang="en-GB" sz="2800" dirty="0">
                <a:latin typeface="Arial Black" pitchFamily="34" charset="0"/>
                <a:cs typeface="Arial" pitchFamily="34" charset="0"/>
              </a:rPr>
              <a:t>Monthly Theft Trends</a:t>
            </a:r>
            <a:endParaRPr lang="en-GB" sz="2800" dirty="0"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07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Age Distribution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577708648"/>
              </p:ext>
            </p:extLst>
          </p:nvPr>
        </p:nvGraphicFramePr>
        <p:xfrm>
          <a:off x="457200" y="109728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371600"/>
            <a:ext cx="338328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</a:t>
            </a: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thefts target 2010-2019 vehicles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2560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vehicles (2020+) represent only </a:t>
            </a: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00" dirty="0" smtClean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</a:t>
            </a: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thefts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security systems in pre-2010 models remain vulnerable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Stolen Vehicle Colors</a:t>
            </a:r>
            <a:endParaRPr lang="en-US" sz="2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781960772"/>
              </p:ext>
            </p:extLst>
          </p:nvPr>
        </p:nvGraphicFramePr>
        <p:xfrm>
          <a:off x="457200" y="109728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371600"/>
            <a:ext cx="3383280" cy="26055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COLOR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0" y="2560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1,272 vehicles </a:t>
            </a:r>
            <a:r>
              <a:rPr lang="en-US" sz="1400" dirty="0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r>
              <a:rPr lang="en-US" sz="1400" dirty="0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</a:t>
            </a:r>
            <a:r>
              <a:rPr lang="en-US" sz="1100" dirty="0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for nearly half of all thefts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70" y="35688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Targeted Vehicle Makes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946405"/>
              </p:ext>
            </p:extLst>
          </p:nvPr>
        </p:nvGraphicFramePr>
        <p:xfrm>
          <a:off x="457200" y="1188720"/>
          <a:ext cx="7168718" cy="2926080"/>
        </p:xfrm>
        <a:graphic>
          <a:graphicData uri="http://schemas.openxmlformats.org/drawingml/2006/table">
            <a:tbl>
              <a:tblPr/>
              <a:tblGrid>
                <a:gridCol w="652509"/>
                <a:gridCol w="1423583"/>
                <a:gridCol w="1437295"/>
                <a:gridCol w="1897553"/>
                <a:gridCol w="1757778"/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THEFTS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Land</a:t>
                      </a:r>
                      <a:r>
                        <a:rPr lang="en-US" sz="1300" baseline="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Rover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Station</a:t>
                      </a:r>
                      <a:r>
                        <a:rPr lang="en-US" sz="1300" baseline="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Wagon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Dodge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Station</a:t>
                      </a:r>
                      <a:r>
                        <a:rPr lang="en-US" sz="1300" baseline="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Wagon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Piaggio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Road Bike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Jaguar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Saloon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BMW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Sport</a:t>
                      </a:r>
                      <a:r>
                        <a:rPr lang="en-US" sz="1300" baseline="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Car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Security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Deploy additional resources to Auckland region during 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1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arch </a:t>
            </a:r>
            <a:r>
              <a:rPr lang="en-US" sz="1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peak 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Awareness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Launch public awareness campaign for owners of 2010-2019 </a:t>
            </a:r>
            <a:r>
              <a:rPr lang="en-US" sz="1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Station-wagon vehicles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Profiling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Increase surveillance of silver and white vehicles in high-risk areas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Make-Specific Programs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Partner with </a:t>
            </a:r>
            <a:r>
              <a:rPr lang="en-US" sz="1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vehicle company </a:t>
            </a:r>
            <a:r>
              <a:rPr lang="en-US" sz="1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enhanced anti-theft </a:t>
            </a:r>
            <a:r>
              <a:rPr lang="en-US" sz="1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technology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273</Words>
  <Application>Microsoft Office PowerPoint</Application>
  <PresentationFormat>On-screen Show (16:9)</PresentationFormat>
  <Paragraphs>111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Theft Analytics Dashboard</dc:title>
  <dc:subject>PptxGenJS Presentation</dc:subject>
  <dc:creator>Vehicle Theft Analytics</dc:creator>
  <cp:lastModifiedBy>Yemi Praise</cp:lastModifiedBy>
  <cp:revision>25</cp:revision>
  <dcterms:created xsi:type="dcterms:W3CDTF">2026-02-13T10:37:25Z</dcterms:created>
  <dcterms:modified xsi:type="dcterms:W3CDTF">2026-02-14T12:51:53Z</dcterms:modified>
</cp:coreProperties>
</file>